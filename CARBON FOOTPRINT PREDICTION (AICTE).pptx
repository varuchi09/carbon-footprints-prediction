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BE4A218-08BC-4D88-9ADA-13120E393ABF}">
          <p14:sldIdLst>
            <p14:sldId id="256"/>
            <p14:sldId id="257"/>
            <p14:sldId id="258"/>
            <p14:sldId id="259"/>
            <p14:sldId id="260"/>
            <p14:sldId id="261"/>
            <p14:sldId id="264"/>
            <p14:sldId id="263"/>
            <p14:sldId id="265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3" autoAdjust="0"/>
    <p:restoredTop sz="96301"/>
  </p:normalViewPr>
  <p:slideViewPr>
    <p:cSldViewPr snapToGrid="0">
      <p:cViewPr varScale="1">
        <p:scale>
          <a:sx n="62" d="100"/>
          <a:sy n="62" d="100"/>
        </p:scale>
        <p:origin x="796" y="44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8A4CD1-62E1-4114-9531-B291A8DA6DB8}" type="datetimeFigureOut">
              <a:rPr lang="en-US" smtClean="0"/>
              <a:t>10/14/2025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EAB26A-AC22-4C23-B616-C6B575BDC3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56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EAB26A-AC22-4C23-B616-C6B575BDC3C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73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ruchi09/Week-1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6390752" y="584200"/>
            <a:ext cx="4156598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5102978" y="2151721"/>
            <a:ext cx="632888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CARBON FOOTPRINTS PREDICTION</a:t>
            </a:r>
          </a:p>
          <a:p>
            <a:pPr algn="r"/>
            <a:endParaRPr lang="en-US" sz="3200" b="1" u="sng" dirty="0">
              <a:solidFill>
                <a:schemeClr val="bg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Varuchi Maurya</a:t>
            </a:r>
          </a:p>
          <a:p>
            <a:endParaRPr lang="en-US" sz="800" dirty="0">
              <a:solidFill>
                <a:schemeClr val="bg1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Dr.Akhilesh Das Gupta institute of professional Studies</a:t>
            </a:r>
          </a:p>
          <a:p>
            <a:r>
              <a:rPr lang="en-US" sz="2000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chemeClr val="bg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ID : STUSTU687e3cb69abf61753103542</a:t>
            </a:r>
          </a:p>
          <a:p>
            <a:endParaRPr 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AICTE Internship ID: INTERNSHIP_17513641056863b20937d78</a:t>
            </a:r>
          </a:p>
          <a:p>
            <a:pPr algn="ctr"/>
            <a:endParaRPr lang="en-US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BD3530AF-9771-470E-A9BF-F28AA22753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7419" y="868863"/>
            <a:ext cx="1263157" cy="41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7996592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213163"/>
                </a:solidFill>
              </a:rPr>
              <a:t>Learning Objectives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To analyze the impact of operational factors on industrial carbon emissions.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To preprocess and model industry datasets for prediction.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To apply Machine Learning for accurate carbon footprint estimation.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To visualize the correlation between features and emissions.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To support sustainable energy and efficiency initiatives.</a:t>
            </a:r>
          </a:p>
          <a:p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24877" y="1016294"/>
            <a:ext cx="11967123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T</a:t>
            </a:r>
            <a:r>
              <a:rPr lang="en-IN" sz="2800" b="1" dirty="0">
                <a:solidFill>
                  <a:srgbClr val="213163"/>
                </a:solidFill>
              </a:rPr>
              <a:t>ools and Technology used </a:t>
            </a:r>
          </a:p>
          <a:p>
            <a:endParaRPr lang="en-IN" sz="2000" b="1" dirty="0">
              <a:solidFill>
                <a:srgbClr val="213163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213163"/>
                </a:solidFill>
              </a:rPr>
              <a:t>Programming Language : Python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213163"/>
                </a:solidFill>
              </a:rPr>
              <a:t>Libraries : Pandas, NumPy, Scikit_Learn, matplotlib, Seaborn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213163"/>
                </a:solidFill>
              </a:rPr>
              <a:t>IDE : Jupyter Notebook, VS Code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solidFill>
                  <a:srgbClr val="213163"/>
                </a:solidFill>
              </a:rPr>
              <a:t>GitHub for version control and collaboration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b="1" dirty="0">
              <a:solidFill>
                <a:srgbClr val="213163"/>
              </a:solidFill>
            </a:endParaRPr>
          </a:p>
          <a:p>
            <a:endParaRPr lang="en-IN" sz="2400" b="1" dirty="0">
              <a:solidFill>
                <a:srgbClr val="213163"/>
              </a:solidFill>
            </a:endParaRPr>
          </a:p>
          <a:p>
            <a:endParaRPr lang="en-IN" sz="24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  <a:p>
            <a:endParaRPr lang="en-IN" sz="20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12192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</a:rPr>
              <a:t>Methodology </a:t>
            </a:r>
          </a:p>
          <a:p>
            <a:endParaRPr lang="en-US" sz="3600" b="1" dirty="0">
              <a:solidFill>
                <a:srgbClr val="213163"/>
              </a:solidFill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 Problem statement.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 Collecting the Dataset.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 Data Cleaning and Preprocessing.</a:t>
            </a:r>
            <a:endParaRPr lang="en-US" altLang="en-US" sz="24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 Training the Model</a:t>
            </a:r>
            <a:r>
              <a:rPr lang="en-US" altLang="en-US" sz="2400" dirty="0">
                <a:solidFill>
                  <a:srgbClr val="002060"/>
                </a:solidFill>
                <a:latin typeface="Arial" panose="020B0604020202020204" pitchFamily="34" charset="0"/>
              </a:rPr>
              <a:t> (Linear Regression for prediction)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 Evaluations</a:t>
            </a:r>
            <a:r>
              <a:rPr lang="en-US" altLang="en-US" sz="2400" dirty="0">
                <a:solidFill>
                  <a:srgbClr val="002060"/>
                </a:solidFill>
                <a:latin typeface="Arial" panose="020B0604020202020204" pitchFamily="34" charset="0"/>
              </a:rPr>
              <a:t> (MSE, R² score)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 Visualizations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 Predictions using user input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002060"/>
                </a:solidFill>
                <a:latin typeface="Arial" panose="020B0604020202020204" pitchFamily="34" charset="0"/>
              </a:rPr>
              <a:t> Deployment</a:t>
            </a:r>
            <a:endParaRPr lang="en-US" altLang="en-US" sz="2400" dirty="0">
              <a:solidFill>
                <a:srgbClr val="002060"/>
              </a:solidFill>
              <a:latin typeface="Arial" panose="020B0604020202020204" pitchFamily="34" charset="0"/>
            </a:endParaRPr>
          </a:p>
          <a:p>
            <a:endParaRPr lang="en-IN" sz="36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3" y="1054412"/>
            <a:ext cx="1105674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</a:rPr>
              <a:t>Problem Statement: </a:t>
            </a:r>
          </a:p>
          <a:p>
            <a:endParaRPr lang="en-US" sz="3600" b="1" dirty="0">
              <a:solidFill>
                <a:srgbClr val="213163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This project aims to develop an AI/ML-based predictive model that estimates the carbon footprint (kg CO₂) of an industry using operational features like energy consumption, fuel type, production capacity, and efficiency levels.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206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2060"/>
                </a:solidFill>
              </a:rPr>
              <a:t>Such a model will help organizations quantify, forecast, and minimize emissions, thereby supporting the goals of sustainable energy and efficiency.</a:t>
            </a:r>
          </a:p>
          <a:p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en-IN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21327" y="763393"/>
            <a:ext cx="11549904" cy="9695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</a:rPr>
              <a:t>Solution:</a:t>
            </a:r>
            <a:r>
              <a:rPr lang="en-US" sz="2800" b="1" dirty="0">
                <a:solidFill>
                  <a:srgbClr val="213163"/>
                </a:solidFill>
              </a:rPr>
              <a:t> </a:t>
            </a:r>
          </a:p>
          <a:p>
            <a:endParaRPr lang="en-US" sz="1600" b="1" dirty="0">
              <a:solidFill>
                <a:srgbClr val="213163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To address the problem of monitoring and reducing industrial carbon emissions, an AI/ML-based predictive framework is developed.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Data Preprocessing &amp; Cleaning</a:t>
            </a:r>
          </a:p>
          <a:p>
            <a:pPr marL="457200" indent="-457200">
              <a:buFont typeface="+mj-lt"/>
              <a:buAutoNum type="arabicPeriod"/>
            </a:pPr>
            <a:endParaRPr lang="en-US" sz="1200" dirty="0">
              <a:solidFill>
                <a:srgbClr val="00206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Removed duplicates and missing values.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Encoded categorical variables (Fuel Type) using mapping.</a:t>
            </a:r>
          </a:p>
          <a:p>
            <a:pPr lvl="1"/>
            <a:endParaRPr lang="en-US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solidFill>
                  <a:srgbClr val="002060"/>
                </a:solidFill>
              </a:rPr>
              <a:t>Feature Engineering</a:t>
            </a:r>
          </a:p>
          <a:p>
            <a:endParaRPr lang="en-US" sz="1200" dirty="0">
              <a:solidFill>
                <a:srgbClr val="00206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Derived correlation values to measure the impact of each feature.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Created mappings for Fuel Type to reflect emission intensity.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3.    Model Development</a:t>
            </a:r>
          </a:p>
          <a:p>
            <a:endParaRPr lang="en-US" sz="1200" dirty="0">
              <a:solidFill>
                <a:srgbClr val="00206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Trained and tested the model using an 80-20 split.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Implemented </a:t>
            </a:r>
            <a:r>
              <a:rPr lang="en-US" b="1" dirty="0">
                <a:solidFill>
                  <a:srgbClr val="002060"/>
                </a:solidFill>
              </a:rPr>
              <a:t>Linear Regression</a:t>
            </a:r>
            <a:r>
              <a:rPr lang="en-US" dirty="0">
                <a:solidFill>
                  <a:srgbClr val="002060"/>
                </a:solidFill>
              </a:rPr>
              <a:t> for prediction.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Evaluated using </a:t>
            </a:r>
            <a:r>
              <a:rPr lang="en-US" b="1" dirty="0">
                <a:solidFill>
                  <a:srgbClr val="002060"/>
                </a:solidFill>
              </a:rPr>
              <a:t>MSE and R² Score</a:t>
            </a:r>
            <a:r>
              <a:rPr lang="en-US" dirty="0">
                <a:solidFill>
                  <a:srgbClr val="002060"/>
                </a:solidFill>
              </a:rPr>
              <a:t> to ensure accuracy.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2000" b="1" dirty="0">
              <a:solidFill>
                <a:srgbClr val="213163"/>
              </a:solidFill>
            </a:endParaRPr>
          </a:p>
          <a:p>
            <a:endParaRPr lang="en-US" sz="3600" b="1" dirty="0">
              <a:solidFill>
                <a:srgbClr val="213163"/>
              </a:solidFill>
            </a:endParaRPr>
          </a:p>
          <a:p>
            <a:endParaRPr lang="en-US" sz="3600" b="1" dirty="0">
              <a:solidFill>
                <a:srgbClr val="213163"/>
              </a:solidFill>
            </a:endParaRPr>
          </a:p>
          <a:p>
            <a:endParaRPr lang="en-US" sz="3600" b="1" dirty="0">
              <a:solidFill>
                <a:srgbClr val="213163"/>
              </a:solidFill>
            </a:endParaRPr>
          </a:p>
          <a:p>
            <a:endParaRPr lang="en-US" sz="3600" b="1" dirty="0">
              <a:solidFill>
                <a:srgbClr val="213163"/>
              </a:solidFill>
            </a:endParaRPr>
          </a:p>
          <a:p>
            <a:endParaRPr lang="en-IN" sz="3600" b="1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B2B8A1-8EBB-30FF-80E2-857DB8577E38}"/>
              </a:ext>
            </a:extLst>
          </p:cNvPr>
          <p:cNvSpPr txBox="1"/>
          <p:nvPr/>
        </p:nvSpPr>
        <p:spPr>
          <a:xfrm>
            <a:off x="287676" y="973477"/>
            <a:ext cx="11616648" cy="3888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4.   Visualization</a:t>
            </a:r>
          </a:p>
          <a:p>
            <a:endParaRPr lang="en-US" sz="1200" dirty="0">
              <a:solidFill>
                <a:srgbClr val="00206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Correlation Heatmap to show relationships between features and emissions.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Bar charts to highlight feature impact on carbon emissions.</a:t>
            </a:r>
          </a:p>
          <a:p>
            <a:pPr lvl="1"/>
            <a:endParaRPr lang="en-US" dirty="0">
              <a:solidFill>
                <a:srgbClr val="002060"/>
              </a:solidFill>
            </a:endParaRPr>
          </a:p>
          <a:p>
            <a:r>
              <a:rPr lang="en-US" b="1" dirty="0">
                <a:solidFill>
                  <a:srgbClr val="002060"/>
                </a:solidFill>
              </a:rPr>
              <a:t>5.   Outcome</a:t>
            </a:r>
          </a:p>
          <a:p>
            <a:endParaRPr lang="en-US" sz="1200" dirty="0">
              <a:solidFill>
                <a:srgbClr val="002060"/>
              </a:solidFill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A predictive model that estimates </a:t>
            </a:r>
            <a:r>
              <a:rPr lang="en-US" b="1" dirty="0">
                <a:solidFill>
                  <a:srgbClr val="002060"/>
                </a:solidFill>
              </a:rPr>
              <a:t>Carbon Footprint (kg CO₂)</a:t>
            </a:r>
            <a:r>
              <a:rPr lang="en-US" dirty="0">
                <a:solidFill>
                  <a:srgbClr val="002060"/>
                </a:solidFill>
              </a:rPr>
              <a:t> for industries.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Clear identification of </a:t>
            </a:r>
            <a:r>
              <a:rPr lang="en-US" b="1" dirty="0">
                <a:solidFill>
                  <a:srgbClr val="002060"/>
                </a:solidFill>
              </a:rPr>
              <a:t>major contributing factors</a:t>
            </a:r>
            <a:r>
              <a:rPr lang="en-US" dirty="0">
                <a:solidFill>
                  <a:srgbClr val="002060"/>
                </a:solidFill>
              </a:rPr>
              <a:t> like electricity usage, production volume, fuel type, efficiency rating.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</a:rPr>
              <a:t>Recommendations for industries to </a:t>
            </a:r>
            <a:r>
              <a:rPr lang="en-US" b="1" dirty="0">
                <a:solidFill>
                  <a:srgbClr val="002060"/>
                </a:solidFill>
              </a:rPr>
              <a:t>optimize fuel usage</a:t>
            </a:r>
            <a:r>
              <a:rPr lang="en-US" dirty="0">
                <a:solidFill>
                  <a:srgbClr val="002060"/>
                </a:solidFill>
              </a:rPr>
              <a:t> and </a:t>
            </a:r>
            <a:r>
              <a:rPr lang="en-US" b="1" dirty="0">
                <a:solidFill>
                  <a:srgbClr val="002060"/>
                </a:solidFill>
              </a:rPr>
              <a:t>increase efficiency</a:t>
            </a:r>
            <a:r>
              <a:rPr lang="en-US" dirty="0">
                <a:solidFill>
                  <a:srgbClr val="002060"/>
                </a:solidFill>
              </a:rPr>
              <a:t> for sustainability.</a:t>
            </a:r>
          </a:p>
          <a:p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b="1" u="sng" dirty="0">
                <a:solidFill>
                  <a:srgbClr val="002060"/>
                </a:solidFill>
              </a:rPr>
              <a:t>GitHub Link</a:t>
            </a:r>
            <a:r>
              <a:rPr lang="en-US" b="1" dirty="0">
                <a:solidFill>
                  <a:srgbClr val="002060"/>
                </a:solidFill>
              </a:rPr>
              <a:t> :</a:t>
            </a:r>
            <a:r>
              <a:rPr lang="en-US" dirty="0">
                <a:solidFill>
                  <a:srgbClr val="002060"/>
                </a:solidFill>
              </a:rPr>
              <a:t>  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https://github.com/varuchi09/Week-1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343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13163"/>
                </a:solidFill>
              </a:rPr>
              <a:t>Screenshot of Output:  </a:t>
            </a:r>
            <a:endParaRPr lang="en-IN" sz="2800" b="1" dirty="0">
              <a:solidFill>
                <a:srgbClr val="213163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BEE6BE-CDEB-2A02-3F6E-D4E9A2FC3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416" y="1742732"/>
            <a:ext cx="6523383" cy="4867954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F5A3CE-D0C5-F3ED-1A83-7DE7B52CC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7036" y="3238500"/>
            <a:ext cx="4503964" cy="111606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BD0ADA-BFFC-03AB-AFE2-162E77C2FF3F}"/>
              </a:ext>
            </a:extLst>
          </p:cNvPr>
          <p:cNvSpPr txBox="1"/>
          <p:nvPr/>
        </p:nvSpPr>
        <p:spPr>
          <a:xfrm>
            <a:off x="7586436" y="4402877"/>
            <a:ext cx="5148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002060"/>
                </a:solidFill>
              </a:rPr>
              <a:t>Accuracy Of the model</a:t>
            </a:r>
          </a:p>
        </p:txBody>
      </p:sp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1E8445-452B-1DB3-FA18-06FEDBDBEA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784" y="4749801"/>
            <a:ext cx="7414430" cy="1781114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0C170E-A32F-238A-24EC-7307E20DC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465" y="829923"/>
            <a:ext cx="5907068" cy="3754777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2536817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1099837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213163"/>
                </a:solidFill>
              </a:rPr>
              <a:t> </a:t>
            </a:r>
            <a:r>
              <a:rPr lang="en-US" sz="2400" b="1" dirty="0">
                <a:solidFill>
                  <a:srgbClr val="213163"/>
                </a:solidFill>
              </a:rPr>
              <a:t>Conclusion:  </a:t>
            </a:r>
          </a:p>
          <a:p>
            <a:endParaRPr lang="en-US" sz="1600" b="1" dirty="0">
              <a:solidFill>
                <a:srgbClr val="213163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Developed a machine learning model for predicting industrial carbon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Identified </a:t>
            </a:r>
            <a:r>
              <a:rPr lang="en-US" sz="1600" b="1" dirty="0">
                <a:solidFill>
                  <a:srgbClr val="002060"/>
                </a:solidFill>
              </a:rPr>
              <a:t>Electricity Usage</a:t>
            </a:r>
            <a:r>
              <a:rPr lang="en-US" sz="1600" dirty="0">
                <a:solidFill>
                  <a:srgbClr val="002060"/>
                </a:solidFill>
              </a:rPr>
              <a:t> and </a:t>
            </a:r>
            <a:r>
              <a:rPr lang="en-US" sz="1600" b="1" dirty="0">
                <a:solidFill>
                  <a:srgbClr val="002060"/>
                </a:solidFill>
              </a:rPr>
              <a:t>Production Volume</a:t>
            </a:r>
            <a:r>
              <a:rPr lang="en-US" sz="1600" dirty="0">
                <a:solidFill>
                  <a:srgbClr val="002060"/>
                </a:solidFill>
              </a:rPr>
              <a:t> as strongest positive contributors.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002060"/>
                </a:solidFill>
              </a:rPr>
              <a:t>Efficiency Rating</a:t>
            </a:r>
            <a:r>
              <a:rPr lang="en-US" sz="1600" dirty="0">
                <a:solidFill>
                  <a:srgbClr val="002060"/>
                </a:solidFill>
              </a:rPr>
              <a:t> showed negative correlation → higher efficiency reduces emissions.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2060"/>
                </a:solidFill>
              </a:rPr>
              <a:t>Provides industries with insights to move towards </a:t>
            </a:r>
            <a:r>
              <a:rPr lang="en-US" sz="1600" b="1" dirty="0">
                <a:solidFill>
                  <a:srgbClr val="002060"/>
                </a:solidFill>
              </a:rPr>
              <a:t>sustainable energy and efficiency.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600" b="1" dirty="0">
              <a:solidFill>
                <a:srgbClr val="002060"/>
              </a:solidFill>
            </a:endParaRPr>
          </a:p>
          <a:p>
            <a:r>
              <a:rPr lang="en-US" sz="2400" b="1" dirty="0">
                <a:solidFill>
                  <a:srgbClr val="002060"/>
                </a:solidFill>
              </a:rPr>
              <a:t>  Future Scope:</a:t>
            </a:r>
          </a:p>
          <a:p>
            <a:endParaRPr lang="en-US" sz="1600" b="1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solidFill>
                  <a:srgbClr val="002060"/>
                </a:solidFill>
              </a:rPr>
              <a:t>Integration with real time data.</a:t>
            </a:r>
          </a:p>
          <a:p>
            <a:pPr marL="457200" indent="-457200">
              <a:buFont typeface="+mj-lt"/>
              <a:buAutoNum type="arabicPeriod"/>
            </a:pPr>
            <a:endParaRPr lang="en-US" sz="1000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600" dirty="0">
                <a:solidFill>
                  <a:srgbClr val="002060"/>
                </a:solidFill>
              </a:rPr>
              <a:t>Extend the model to not only predict emissions but also suggest actionable</a:t>
            </a:r>
            <a:r>
              <a:rPr lang="en-US" sz="1600" b="1" dirty="0">
                <a:solidFill>
                  <a:srgbClr val="002060"/>
                </a:solidFill>
              </a:rPr>
              <a:t> </a:t>
            </a:r>
            <a:r>
              <a:rPr lang="en-US" sz="1600" dirty="0">
                <a:solidFill>
                  <a:srgbClr val="002060"/>
                </a:solidFill>
              </a:rPr>
              <a:t>strategies (e.g., switch fuel type, improve efficiency).</a:t>
            </a:r>
          </a:p>
          <a:p>
            <a:endParaRPr lang="en-US" sz="2400" dirty="0">
              <a:solidFill>
                <a:srgbClr val="002060"/>
              </a:solidFill>
            </a:endParaRPr>
          </a:p>
          <a:p>
            <a:endParaRPr lang="en-IN" sz="2400" dirty="0">
              <a:solidFill>
                <a:srgbClr val="21316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487</TotalTime>
  <Words>506</Words>
  <Application>Microsoft Office PowerPoint</Application>
  <PresentationFormat>Widescreen</PresentationFormat>
  <Paragraphs>104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Wingdings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varuchi09@gmail.com</cp:lastModifiedBy>
  <cp:revision>20</cp:revision>
  <dcterms:created xsi:type="dcterms:W3CDTF">2024-12-31T09:40:01Z</dcterms:created>
  <dcterms:modified xsi:type="dcterms:W3CDTF">2025-10-14T18:10:07Z</dcterms:modified>
</cp:coreProperties>
</file>